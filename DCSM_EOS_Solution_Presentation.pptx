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今天報告 DCSM 系統在 2027 到 2029 年面臨的停止支援問題、我們評估過的方案、建議路線，以及需要主管決定和支持的事項。範圍只考慮全地端，也不採用 SQL Server 2017 的延長安全性更新。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現行環境是 Windows Server 2019、SQL Server 2017、Dynamics CRM v9.1 地端版。第一個斷點是 2027 年 10 月 SQL Server 2017 停止支援；第二個是 2029 年 1 月 9 日現行 CRM 應用伺服器所用的 Windows Server 2019 停止支援，現行部署屆時必須下架或重建。要說明的是，CRM v9.1 軟體本身的延伸支援到 2031 年 1 月 9 日，2029 年不是原廠宣布的 CRM 停止支援日，而是本案的決策界線。另外有四個前提：資料量約 6 TB；行內沒有 SQL 2017 轉到 2019 的實際經驗，UAT 是直接安裝在 2019；維運人力是行內兩人；範圍只考慮全地端，也不採用延長安全性更新。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這張時間軸把各元件的支援期限放在一起看。灰色是現行元件的剩餘支援期：SQL Server 2017 到 2027 年 10 月 12 日，Windows Server 2019 到 2029 年 1 月 9 日，CRM v9.1 軟體本身到 2031 年 1 月 9 日。黃色虛線是 S4 延用 SQL 2017 的期間，這段沒有安全性更新，需要申請展延。藍色是 S1 的目標平台，SQL Server 2019 支援到 2030 年 1 月，Windows Server 2022 到 2031 年 10 月，CRM 下架後轉為封存庫。綠色是路線 E 的規劃，目標在 2027 年 10 月 12 日前完成承接並下架 CRM。兩條紅色虛線，一條是 SQL Server 2017 的斷點，一條是 Windows Server 2019 到期、現行 CRM 部署必須下架或重建的決策點。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這是整份報告最重要的判斷。2027 年 10 月是 SQL 的斷點，2029 年 1 月是現行 CRM 部署的重建決策點。CRM v9.1 軟體本身的延伸支援到 2031 年 1 月 9 日，但現行應用伺服器的 Windows Server 2019 在 2029 年 1 月 9 日停止支援；要跨過 2029 年繼續使用，就必須重建作業系統平台，並驗證 CRM 更新、周邊元件和資料庫組合。現行系統重建的風險高，所以本案以 2029 年前下架 CRM 為優先規劃目標。報告的順序是先談 CRM 的去留，再談 SQL，原因是 CRM 如果能在 2027 年 10 月 12 日前下架，SQL Server 2017 的停止支援就不需要處理了。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CRM 的去留依代號 P1 到 P5 列出。P1 是延用現行 CRM。CRM v9.1 軟體支援到 2031 年 1 月，但現行應用伺服器的 Windows Server 2019 在 2029 年 1 月到期，現狀直接延用不可接受；若要跨過 2029 年，須在 Windows Server 2022 重建並更新 CRM、驗證周邊整合，可行但風險高，須另案評估。P2 是保留系統，由行內維運 IT 主導精簡客製，開發需評估由行內 IT 或委外執行，適合仍需要系統支援客戶管理、又不希望流程大幅變動的情況，前置議題是要先和法金業務窗口協調精簡範圍。P3 改用其他廠商的產品不建議，因為對保守的金融業內部衝擊大，為了配合產品結構，需求訪談和廠商磨合的工作量比 P2 更大。P4 雲端版超出全地端範圍。P5 是不做 CRM 系統，把客戶移管、銷戶這些本來就屬於徵審系統的功能歸回去，我方只做資料報表；徵審系統基本能承接，CRM 也能提早下架。建議方案是 P2 和 P5，二擇一。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如果需要保留 CRM 系統，建議走 P2，但有前置議題。兩人扣掉日常維運，約 21 個月的可用產能只有 26 到 33 人月，傳統估算是 108 到 240 人月，所以行內開發的話範圍一定要精簡，否則需評估委外。做法是先盤點現行 CRM 的使用內容，再和法金業務窗口逐項分類：保留為核心、精簡後保留、改由報表提供、停用；由法金窗口和主管在明年 3 月底前簽核核心功能清單，再對照行內產能評估開發由行內 IT 或委外執行，只開發核心功能；開發方式在 3 月底初步決定，6 月底依試行結果確認。統籌熟悉現行 CRM 與流程，能直接和法金窗口討論取捨，訪談範圍遠小於導入外部產品。業務端可能傾向全部保留，這需要主管支持。產能估算中日常維運佔 20 到 30% 是假設值。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P5 的分工是：徵審系統承接客戶移管、銷戶等功能，並轉入現行客戶資料；我方兩人只做報表平台和 CRM 歷史資料的封存庫，約 12 個月、可用約 17 到 19 人月，報表範圍預期做得完，但要以報表清單確認；業務單位負責確認哪些功能不再保留、流程改到徵審系統，以及教育訓練。好處是我方範圍最小，CRM 目標在 2027 年 10 月 12 日前下架，SQL 2017 就不需要處理。前提是徵審系統負責單位書面承諾時程，並確認除了移管、銷戶之外，沒有遺漏其他仍在使用的功能。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Server 2017 的處理，取決於 CRM 什麼時候下架。走 P5 並在 2027 年 10 月 12 日前下架，就不需要處理。需要處理時依代號 S1 到 S4：S1 平行搬遷到 2019，切回須先演練，開放使用者寫入後才切回會產生資料差異，走 P2 時建議；S2 原機升級失敗難以回復，不建議；S3 升到 2022，若現行 CRM 版本未達門檻還要先更新，CRM 若在 2029 年前下架則投入效益有限，本案不優先，只有決定延用 CRM 時才重新評估；S4 延用 SQL 2017 到 CRM 下架，需要依行內規定申請展延，條件式可行。走 P5 但來不及下架時，先用 S4 短期過渡，展延沒被核准才做 S1；走 P2 的話，新系統要到 2028 年底才上線，就需要 S1 或 S4。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做了 S1，現行 CRM 應用伺服器仍須在 Windows Server 2019 於 2029 年到期前下架或重建，所以要問 S1 是不是浪費人力。把 S1 的工作拆開看：新主機和授權之後還能沿用；但 6 TB 同步、CRM 改指向、切換與切回演練，只服務 CRM 最後一段時間，下架後就沒有價值。所以 S1 的本質是買保險，用基礎架構約 3 到 6 人月和一次停機的風險，換取最後這段期間的安全性更新和延誤時的退路。下架時程沒把握時，例如走 P2，保險值得買；下架有把握或能提前，例如走 P5，S1 多半是浪費，應優先考慮不處理或 S4。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 不在原主機上升級，而是另建一台 SQL 2019，事先把 6 TB 還原過去，再持續同步交易記錄。停機切換時只需套用最後一小段；可接受的停機時間要用 6 TB 正式資料演練量測，不能以未驗證的時數承諾。原主機保留供必要時切回。開放使用者寫入之前驗證不過，可以依演練過的程序切回；原主機保留 30 天，但開放寫入之後才切回，新資料就要另行比對與補登。各做法都有微軟官方文件，但「可切回」是我們推論的結論，不是微軟的保證，建議請原廠書面確認。完整程序與官方依據在 SQL Server 汰換評估文件。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S1 最大的風險。UAT 雖然是 SQL 2019，但一開始就是直接安裝，只能證明 CRM 能在 2019 上運作，不能證明從 2017 轉過去的過程。因應方式是用正式環境的 SQL 2017 備份，還原到 2019 演練環境至少 3 次；第 1 次演練就是行內第一次真正的轉換。每次演練都比對資料與效能、量測時間、寫成操作手冊，並至少演練一次切回。平行搬遷的核心步驟是備份再還原，和日常作業相近，比原機升級更容易累積經驗。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 CRM 來不及在 2027 年 10 月 12 日前下架，就要在明年 3 月底前決定 S1 還是 S4。S1 有搬遷工作和轉換經驗不足的風險，切回也要先演練，但之後 SQL 有更新到 2030 年。S4 完全不動系統，但延用期間沒有安全性更新：走 P5 可能只有幾個月，走 P2 約 13 到 15 個月；這屬於稽核缺失。下架若延誤，SQL 會持續沒有更新，延誤超過 2029 年 1 月，Windows Server 2019 也失去支援，必須另行重建平台；CRM v9.1 軟體本身仍受支援到 2031 年 1 月。要走 S4，需要依行內規定申請展延，經核准後於展延期限內完成 CRM 下架。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CRM 和 SQL 的方案組合成路線 A 到 E。路線 A 只升 SQL、現行 CRM 應用伺服器不重建，2029 年仍要處理 Windows Server 2019，不建議。路線 B 升到 SQL 2022 再精簡客製，CRM 若在 2029 年前下架則投入效益有限，本案不優先。路線 C 是 SQL 平行搬遷到 2019，加上行內精簡客製，在評估後仍需要保留 CRM 系統時採用，前置議題是和法金業務窗口協調範圍。路線 D 是 C 的替代，SQL 延用不搬，需要申請展延。路線 E 是客戶管理回歸徵審系統，我方只做報表，工作量最少，SQL 2017 的問題可能直接消失，長期也只需要維運報表平台，是建議優先的路線。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路線 E 的時程目標是 2027 年 10 月 12 日前下架 CRM。今年第四季要先與法金業務窗口協調確認方案，並取得徵審系統負責單位的書面承諾與時程，我方同時盤點功能、報表和使用者。明年第一季徵審系統開發承接功能，我方設計報表平台，2 月底判斷能否如期下架。第二季測試並演練資料轉入，第三季客戶管理切換到徵審系統、報表平台上線，10 月 12 日前 CRM 下架，最終備份還原為唯讀封存庫。如果來不及，就立即申請展延，3 月底前核准則以 S4 短期過渡，目標 2028 年上半年前下架；展延沒被核准才做 S1。如果最後決定保留系統改走路線 C，SQL 在 2027 年 7 月切換，新系統 2028 年第四季上線。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路線 E 的成本最低。主要外部支出是報表平台和封存庫共用的 SQL Server 授權，約新台幣 103 萬，如果已有軟體保證合約可能不需要重買，另外是主機與儲存，依硬體報價。我方報表平台由兩人約 12 個月完成，AI 工具沿用現有 Copilot。徵審系統承接的成本由該單位評估。如果 CRM 在 10 月 12 日前下架，SQL 2017 不需要任何支出。若改走路線 C，另需基礎架構團隊 3 到 6 人月做 SQL 搬遷，以及精簡客製開發：行內開發約需兩人 21 個月，委外則依核心功能清單另行估價。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接著是請主管決定和支持的事項。今天希望確認兩件事：同意以路線 E 為優先方向，路線 C 作為需要保留系統時的方案；以及同意啟動徵審系統承接的洽談，和現行功能、報表的盤點。後續決策點依路線分開：今年第四季不論哪條路線，都要與法金業務窗口協調，確認是否保留 CRM 系統。走路線 C 或 D 時，3 月底前簽核核心功能，並初步決定開發由行內 IT 或委外執行；SQL 預設走 S1 平行搬遷，要改採 S4 須展延獲核准；走路線 E 時，明年 2 月底判斷能否在 10 月 12 日前下架，不能就申請展延，3 月底依核准結果決定 S4 或 S1。需要特別說明的是，方案內容須先經法金確認，才能配合進行辦理。需要主管協調的有：徵審系統負責單位的書面承諾、業務單位確認功能取捨；指定法金業務窗口，走 P2 時並支持範圍精簡；另外確認 SQL 的軟體保證合約，指定備援人員，並由維運單位執行正式部署。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最後補充法金業務單位已提出的三項議題，都和系統身分與權限有關，對應需求分析文件原本的三項需求。第一項是不要綁定 Microsoft AD，登入改採現行永豐雲內其他系統的驗證方式。第二項是容許系統管理員切換為任何使用者，這屬於高風險功能，涉及權限、稽核和功能操作的細部設計，需要由法金管理者詳細規劃。第三項是代理人代理時可以直接切換為被代理人，需要明確定義代理規則和代理範圍，也要考量公司內部的實際狀況。走 P2 時這三項由新系統實作；走 P5 時客戶管理由徵審系統負責，第一項仍適用於我方報表平台的登入。第二、三項的規則要先由法金規劃，才能進入開發，已列入待確認事項。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737360"/>
            <a:ext cx="10570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FB4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主管報告 · 2026 年 10 月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194560"/>
            <a:ext cx="10570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2027–2029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EOS 處理方案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40690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C4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 2017 與 Dynamics CRM v9.1 停止支援的因應方案、建議路線與決策事項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594360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依據：DCSM_EOS 評估文件 · 範圍：全地端，不採用延長安全性更新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兩個停止支援的斷點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5148072" cy="2240280"/>
          </a:xfrm>
          <a:prstGeom prst="roundRect">
            <a:avLst>
              <a:gd name="adj" fmla="val 4082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3856" y="2057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A85D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2027-10-12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 2017 停止支援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3429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距今約 12 個月；之後不再有任何安全性更新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6208" y="1828800"/>
            <a:ext cx="5148072" cy="2240280"/>
          </a:xfrm>
          <a:prstGeom prst="roundRect">
            <a:avLst>
              <a:gd name="adj" fmla="val 4082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6248" y="2057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A826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2029-01-09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556248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Windows Server 2019 停止支援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3429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距今約 27 個月；現行 CRM 部署須下架或重建（CRM v9.1 軟體支援至 2031-01-09）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" y="4389120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3EC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2416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資料量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6 TB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511296" y="4389120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F9E3E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39896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2017→2019 轉換經驗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39896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826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08776" y="4389120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3EC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7376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維運人力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行內 2 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906256" y="4389120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3EC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34856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範圍限制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34856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全地端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各元件支援期限：SQL 2017 最先到期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98650" y="2029968"/>
            <a:ext cx="0" cy="3273552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3289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27032" y="2029968"/>
            <a:ext cx="0" cy="3273552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61272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59054" y="2029968"/>
            <a:ext cx="0" cy="3273552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3294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87436" y="2029968"/>
            <a:ext cx="0" cy="3273552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1676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15818" y="2029968"/>
            <a:ext cx="0" cy="3273552"/>
          </a:xfrm>
          <a:prstGeom prst="line">
            <a:avLst/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0058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2031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" y="220370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 2017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2249424"/>
            <a:ext cx="1703241" cy="164592"/>
          </a:xfrm>
          <a:prstGeom prst="roundRect">
            <a:avLst>
              <a:gd name="adj" fmla="val 22222"/>
            </a:avLst>
          </a:prstGeom>
          <a:solidFill>
            <a:srgbClr val="8391A5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77377" y="2276856"/>
            <a:ext cx="109728" cy="109728"/>
          </a:xfrm>
          <a:prstGeom prst="ellipse">
            <a:avLst/>
          </a:prstGeom>
          <a:solidFill>
            <a:srgbClr val="A8261E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41969" y="22219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2027-10-12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" y="266090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2017（S4 延用）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32241" y="2706624"/>
            <a:ext cx="1655928" cy="164592"/>
          </a:xfrm>
          <a:prstGeom prst="roundRect">
            <a:avLst>
              <a:gd name="adj" fmla="val 22222"/>
            </a:avLst>
          </a:prstGeom>
          <a:ln w="15875">
            <a:solidFill>
              <a:srgbClr val="A85D0A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897897" y="2679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無更新，至 CRM 下架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" y="311810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Dynamics CRM v9.1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3163824"/>
            <a:ext cx="6015933" cy="164592"/>
          </a:xfrm>
          <a:prstGeom prst="roundRect">
            <a:avLst>
              <a:gd name="adj" fmla="val 22222"/>
            </a:avLst>
          </a:prstGeom>
          <a:solidFill>
            <a:srgbClr val="8391A5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390069" y="3191256"/>
            <a:ext cx="109728" cy="109728"/>
          </a:xfrm>
          <a:prstGeom prst="ellipse">
            <a:avLst/>
          </a:prstGeom>
          <a:solidFill>
            <a:srgbClr val="A8261E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54661" y="31363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2031-01-09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13816" y="357530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Windows Server 2019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29000" y="3621024"/>
            <a:ext cx="3359169" cy="164592"/>
          </a:xfrm>
          <a:prstGeom prst="roundRect">
            <a:avLst>
              <a:gd name="adj" fmla="val 22222"/>
            </a:avLst>
          </a:prstGeom>
          <a:solidFill>
            <a:srgbClr val="8391A5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733305" y="3648456"/>
            <a:ext cx="109728" cy="109728"/>
          </a:xfrm>
          <a:prstGeom prst="ellipse">
            <a:avLst/>
          </a:prstGeom>
          <a:solidFill>
            <a:srgbClr val="A8261E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97897" y="3593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2029-01-09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" y="403250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 2019（S1）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8334" y="4078224"/>
            <a:ext cx="3304578" cy="164592"/>
          </a:xfrm>
          <a:prstGeom prst="roundRect">
            <a:avLst>
              <a:gd name="adj" fmla="val 22222"/>
            </a:avLst>
          </a:prstGeom>
          <a:solidFill>
            <a:srgbClr val="3D6FB0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8048" y="4105656"/>
            <a:ext cx="109728" cy="109728"/>
          </a:xfrm>
          <a:prstGeom prst="ellipse">
            <a:avLst/>
          </a:prstGeom>
          <a:solidFill>
            <a:srgbClr val="3D6FB0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2640" y="40507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2030-01-08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13816" y="448970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Windows Server 2022（S1）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98650" y="4535424"/>
            <a:ext cx="6358037" cy="164592"/>
          </a:xfrm>
          <a:prstGeom prst="roundRect">
            <a:avLst>
              <a:gd name="adj" fmla="val 22222"/>
            </a:avLst>
          </a:prstGeom>
          <a:solidFill>
            <a:srgbClr val="3D6FB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01823" y="4562856"/>
            <a:ext cx="109728" cy="109728"/>
          </a:xfrm>
          <a:prstGeom prst="ellipse">
            <a:avLst/>
          </a:prstGeom>
          <a:solidFill>
            <a:srgbClr val="3D6FB0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6447" y="4288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2031-10-14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13816" y="4946904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 E：徵審承接＋報表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63825" y="4992624"/>
            <a:ext cx="1328382" cy="164592"/>
          </a:xfrm>
          <a:prstGeom prst="roundRect">
            <a:avLst>
              <a:gd name="adj" fmla="val 22222"/>
            </a:avLst>
          </a:prstGeom>
          <a:solidFill>
            <a:srgbClr val="2E8A5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201935" y="4965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2027-10-12 前下架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32241" y="2057400"/>
            <a:ext cx="0" cy="3310128"/>
          </a:xfrm>
          <a:prstGeom prst="line">
            <a:avLst/>
          </a:prstGeom>
          <a:noFill/>
          <a:ln w="12700">
            <a:solidFill>
              <a:srgbClr val="A8261E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4126401" y="5394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26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2017 停止支援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88169" y="2057400"/>
            <a:ext cx="0" cy="3310128"/>
          </a:xfrm>
          <a:prstGeom prst="line">
            <a:avLst/>
          </a:prstGeom>
          <a:noFill/>
          <a:ln w="12700">
            <a:solidFill>
              <a:srgbClr val="A8261E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5782329" y="5394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26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WS2019 停止支援（決策點）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803859" y="2057400"/>
            <a:ext cx="0" cy="3310128"/>
          </a:xfrm>
          <a:prstGeom prst="line">
            <a:avLst/>
          </a:prstGeom>
          <a:noFill/>
          <a:ln w="12700">
            <a:solidFill>
              <a:srgbClr val="4B5667"/>
            </a:solidFill>
            <a:prstDash val="sysDot"/>
          </a:ln>
        </p:spPr>
      </p:sp>
      <p:sp>
        <p:nvSpPr>
          <p:cNvPr id="45" name="Text 43"/>
          <p:cNvSpPr txBox="1"/>
          <p:nvPr/>
        </p:nvSpPr>
        <p:spPr>
          <a:xfrm>
            <a:off x="3255219" y="5394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13816" y="5852160"/>
            <a:ext cx="329184" cy="146304"/>
          </a:xfrm>
          <a:prstGeom prst="roundRect">
            <a:avLst>
              <a:gd name="adj" fmla="val 18750"/>
            </a:avLst>
          </a:prstGeom>
          <a:solidFill>
            <a:srgbClr val="8391A5">
              <a:alpha val="50000"/>
            </a:srgbClr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34440" y="5797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現行元件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16936" y="5852160"/>
            <a:ext cx="329184" cy="146304"/>
          </a:xfrm>
          <a:prstGeom prst="roundRect">
            <a:avLst>
              <a:gd name="adj" fmla="val 18750"/>
            </a:avLst>
          </a:prstGeom>
          <a:ln w="15875">
            <a:solidFill>
              <a:srgbClr val="A85D0A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3337560" y="5797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S4 延用（無更新）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0056" y="5852160"/>
            <a:ext cx="329184" cy="146304"/>
          </a:xfrm>
          <a:prstGeom prst="roundRect">
            <a:avLst>
              <a:gd name="adj" fmla="val 18750"/>
            </a:avLst>
          </a:prstGeom>
          <a:solidFill>
            <a:srgbClr val="3D6FB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440680" y="5797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S1 目標平台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23176" y="5852160"/>
            <a:ext cx="329184" cy="146304"/>
          </a:xfrm>
          <a:prstGeom prst="roundRect">
            <a:avLst>
              <a:gd name="adj" fmla="val 18750"/>
            </a:avLst>
          </a:prstGeom>
          <a:solidFill>
            <a:srgbClr val="2E8A57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543800" y="5797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 E 規劃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554480"/>
            <a:ext cx="10570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DA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關鍵判斷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011680"/>
            <a:ext cx="10570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4F6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2029-01 是現行 CRM 的決策點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32004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E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v9.1 軟體支援至 2031-01，但現行應用伺服器的 Windows Server 2019 在 2029-01 到期；跨過去須重建平台，風險高，因此以 2029-01 前下架為優先規劃目標。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40690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A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先決定 CRM 的去留，SQL Server 2017 怎麼處理就跟著決定：CRM 若能在 2027-10-12 前下架，SQL 2017 的問題一併消失。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1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去留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兩個建議方案，依是否保留 CRM 系統而定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28800"/>
          <a:ext cx="10570464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907024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P1 延用現行 CRM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v9.1 支援至 2031-01，但 WS2019 於 2029-01 到期；跨過須重建至 WS2022 並驗證整合，風險高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現狀延用不可接受；重建風險高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 行內精簡客製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保留系統，行內維運 IT 主導；開發評估行內或委外；須先與法金窗口協調取出核心功能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建議，有前置議題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P3 其他廠商 CRM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保守的金融業內部衝擊大；需求訪談與廠商磨合比 P2 更多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不建議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P4 Dynamics 雲端版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超出全地端範圍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範圍外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P5 回歸徵審系統，我方只做報表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移管、銷戶等本屬徵審系統的功能，基本能承接；CRM 可提前下架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539496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與 P5 二擇一：需保留 CRM 系統且不希望流程大幅變動走 P2；不需保留走 P5。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· 建議，有前置議題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先與法金業務窗口協調，精簡出核心功能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F4E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A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行內 2 人可用產能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23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26–33 人月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13816" y="36118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8136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傳統開發估算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4206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108–240 人月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745736" y="1828800"/>
            <a:ext cx="6638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範圍精簡流程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745736" y="2331720"/>
            <a:ext cx="365760" cy="365760"/>
          </a:xfrm>
          <a:prstGeom prst="ellipse">
            <a:avLst/>
          </a:prstGeom>
          <a:solidFill>
            <a:srgbClr val="E3ECF7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45736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2359152"/>
            <a:ext cx="6089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盤點現行 CRM 使用內容與頻率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45736" y="2935224"/>
            <a:ext cx="365760" cy="365760"/>
          </a:xfrm>
          <a:prstGeom prst="ellipse">
            <a:avLst/>
          </a:prstGeom>
          <a:solidFill>
            <a:srgbClr val="E3ECF7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45736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2962656"/>
            <a:ext cx="6089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與法金窗口逐項分類：保留、精簡、改由報表、停用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45736" y="3538728"/>
            <a:ext cx="365760" cy="365760"/>
          </a:xfrm>
          <a:prstGeom prst="ellipse">
            <a:avLst/>
          </a:prstGeom>
          <a:solidFill>
            <a:srgbClr val="E3ECF7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45736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94376" y="3566160"/>
            <a:ext cx="6089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法金窗口與主管簽核核心功能（2027-03-31 前）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45736" y="4142232"/>
            <a:ext cx="365760" cy="365760"/>
          </a:xfrm>
          <a:prstGeom prst="ellipse">
            <a:avLst/>
          </a:prstGeom>
          <a:solidFill>
            <a:srgbClr val="E3ECF7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45736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94376" y="4169664"/>
            <a:ext cx="6089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對照兩人產能，評估開發由行內 IT 或委外執行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45736" y="4846320"/>
            <a:ext cx="6638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行內維運 IT 主導；開發方式 2027-03-31 初步決定、2027-06-30 依試行結果確認。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P5 · 建議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客戶管理回歸徵審系統，我方只做報表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" y="2057400"/>
            <a:ext cx="384048" cy="384048"/>
          </a:xfrm>
          <a:prstGeom prst="ellipse">
            <a:avLst/>
          </a:prstGeom>
          <a:solidFill>
            <a:srgbClr val="1F4E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813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91056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徵審系統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承接客戶移管、銷戶等功能；現行客戶資料轉入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7408" y="1828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2057400"/>
            <a:ext cx="384048" cy="384048"/>
          </a:xfrm>
          <a:prstGeom prst="ellipse">
            <a:avLst/>
          </a:prstGeom>
          <a:solidFill>
            <a:srgbClr val="1F4E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172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84648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我方兩人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報表平台與 CRM 歷史資料封存庫；約 12 個月、可用約 17–19 人月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057400"/>
            <a:ext cx="384048" cy="384048"/>
          </a:xfrm>
          <a:prstGeom prst="ellipse">
            <a:avLst/>
          </a:prstGeom>
          <a:solidFill>
            <a:srgbClr val="1F4E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業務單位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確認放棄的功能、流程改到徵審系統、教育訓練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" y="4069080"/>
            <a:ext cx="5148072" cy="1188720"/>
          </a:xfrm>
          <a:prstGeom prst="roundRect">
            <a:avLst>
              <a:gd name="adj" fmla="val 7692"/>
            </a:avLst>
          </a:prstGeom>
          <a:solidFill>
            <a:srgbClr val="E3EC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6208" y="4069080"/>
            <a:ext cx="5148072" cy="1188720"/>
          </a:xfrm>
          <a:prstGeom prst="roundRect">
            <a:avLst>
              <a:gd name="adj" fmla="val 7692"/>
            </a:avLst>
          </a:prstGeom>
          <a:solidFill>
            <a:srgbClr val="FBEF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88136" y="42519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好處：</a:t>
            </a:r>
            <a:pPr indent="0" marL="0">
              <a:buNone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我方範圍最小、產能問題解除；CRM 目標 2027-10-12 前下架，SQL 2017 不需處理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42519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前提：</a:t>
            </a:r>
            <a:pPr indent="0" marL="0">
              <a:buNone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徵審系統書面承諾時程；確認移管、銷戶外沒有遺漏仍在用的功能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 2017 停止支援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來不及在 2027-10-12 前下架時才需處理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28800"/>
          <a:ext cx="10570464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3931920"/>
                <a:gridCol w="2249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支援到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主要風險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S1 平行搬遷到 SQL 2019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2030-01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須演練切回，開放寫入後切回有資料差異；行內沒有轉換經驗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走 P2 時建議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S2 原機升級到 SQL 2019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2030-01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升級後無法降版，失敗難以回復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不建議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S3 SQL 2022 + CRM 更新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2033-01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須驗證 CRM 更新、搬遷與整合；CRM 於 2029 年前下架則效益有限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本案不優先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S4 延用 SQL 2017 至下架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無更新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延用期間無安全性更新；屬稽核缺失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條件式可行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475488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 P5 並在 2027-10-12 前下架：</a:t>
            </a:r>
            <a:pPr indent="0" marL="0">
              <a:buNone/>
            </a:pPr>
            <a:r>
              <a:rPr lang="en-US" sz="1400" b="1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不需處理</a:t>
            </a:r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。來不及：S4 短期過渡；S4 展延未獲核准才做 S1。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S1 是否浪費人力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S1 是「買保險」，不是長期投資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28800"/>
          <a:ext cx="10570464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0840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S1 的工作或產出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CRM 下架後的價值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新主機與 SQL 授權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可沿用：轉為封存庫或給新系統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TB 同步、CRM 改指向、切換與切回演練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無：只服務 CRM 最後一段時間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2017→2019 轉換經驗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有限：封存時只需離線還原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CRM 剩餘期間的安全性更新與延誤時的退路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只在這段期間有價值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" y="4343400"/>
            <a:ext cx="5148072" cy="914400"/>
          </a:xfrm>
          <a:prstGeom prst="roundRect">
            <a:avLst>
              <a:gd name="adj" fmla="val 10000"/>
            </a:avLst>
          </a:prstGeom>
          <a:solidFill>
            <a:srgbClr val="E3ECF7"/>
          </a:solidFill>
          <a:ln/>
        </p:spPr>
      </p:sp>
      <p:sp>
        <p:nvSpPr>
          <p:cNvPr id="6" name="Shape 3"/>
          <p:cNvSpPr/>
          <p:nvPr/>
        </p:nvSpPr>
        <p:spPr>
          <a:xfrm>
            <a:off x="6236208" y="4343400"/>
            <a:ext cx="5148072" cy="914400"/>
          </a:xfrm>
          <a:prstGeom prst="roundRect">
            <a:avLst>
              <a:gd name="adj" fmla="val 10000"/>
            </a:avLst>
          </a:prstGeom>
          <a:solidFill>
            <a:srgbClr val="FBEF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88136" y="4617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下架時程沒把握</a:t>
            </a:r>
            <a:pPr indent="0" marL="0">
              <a:buNone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（例如 P2）：保險值得買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10528" y="4617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下架有把握或能提前</a:t>
            </a:r>
            <a:pPr indent="0" marL="0">
              <a:buNone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（例如 P5）：S1 多半是浪費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若採 S1 · 平行搬遷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原主機保留，開放寫入前可依演練程序切回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建置新主機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2019 裝在 Windows Server 2022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8288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事先還原 6 TB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最耗時的作業在停機前完成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8288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持續同步交易記錄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切換時只剩少量記錄要套用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" y="32461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3410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停機切換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停機時間以 6 TB 演練量測為準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07408" y="32461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3410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開放前驗證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此時可依演練程序切回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01000" y="32461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3410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原主機保留 30 天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開放後切回，新資料須比對補登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" y="4800600"/>
            <a:ext cx="10570464" cy="777240"/>
          </a:xfrm>
          <a:prstGeom prst="roundRect">
            <a:avLst>
              <a:gd name="adj" fmla="val 11765"/>
            </a:avLst>
          </a:prstGeom>
          <a:solidFill>
            <a:srgbClr val="E3EC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88136" y="5001768"/>
            <a:ext cx="10021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依據：</a:t>
            </a:r>
            <a:pPr indent="0" marL="0">
              <a:buNone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各做法都有微軟官方文件；「可切回」是由此推論的結論，建議請原廠或授權經銷商以書面確認。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26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若採 S1 · 最大升級風險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行內沒有 SQL 2017→2019 轉換經驗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5148072" cy="3566160"/>
          </a:xfrm>
          <a:prstGeom prst="roundRect">
            <a:avLst>
              <a:gd name="adj" fmla="val 2564"/>
            </a:avLst>
          </a:prstGeom>
          <a:solidFill>
            <a:srgbClr val="FCFDFE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3856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UAT 是直接安裝在 SQL 2019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77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能證明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v9.1 能在 SQL 2019 上運作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826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不能證明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365760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TB 轉換過程與耗時、帳號與排程作業搬移、CRM 改指向新主機、報表連線、切回程序、轉換後效能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6208" y="1828800"/>
            <a:ext cx="5148072" cy="3566160"/>
          </a:xfrm>
          <a:prstGeom prst="roundRect">
            <a:avLst>
              <a:gd name="adj" fmla="val 2564"/>
            </a:avLst>
          </a:prstGeom>
          <a:solidFill>
            <a:srgbClr val="E3EC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6248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因應：用演練把未知變已知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56248" y="26060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用正式環境 SQL 2017 備份演練至少 3 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每次比對資料筆數、功能、報表與效能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量測時間，寫成操作手冊照做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至少實際演練一次切回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需處理 SQL 時 · 2027-03-31 擇定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S1 搬遷，還是 S4 延用？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28800"/>
          <a:ext cx="10570464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  <a:gridCol w="48097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S1 搬到 SQL 2019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S4 延用 SQL 2017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基礎架構約 3–6 人月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省下搬遷人力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升級風險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須演練切回；開放寫入後切回需處理新資料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無，系統完全不動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有更新到 2030-01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延用期間無更新（P5 數個月；P2 約 13–15 個月）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稽核法遵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無缺失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屬稽核缺失，需申請展延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下架延誤時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CRM 仍在有更新的 SQL 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SQL 持續無更新；延誤超過 2029-01，WS2019 也失去支援，須另行重建平台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53492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S4 成立前提：2027-03-31 前依行內規定申請展延並獲核准，於展延期限內完成 CRM 下架；CRM 下架時程有把握。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建議路線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 E 優先；需保留系統時走路線 C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28800"/>
          <a:ext cx="10570464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651760"/>
                <a:gridCol w="1645920"/>
                <a:gridCol w="23408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路線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 SQL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升級風險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只升 SQL，CRM 伺服器不重建（S1 + P1）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不建議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SQL 2022 + 精簡客製（S3 + P2）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本案不優先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SQL 2019 + 精簡客製（S1 + P2）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搬遷解決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須演練切回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建議，有前置議題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 SQL 2017 延用 + 精簡客製（S4 + P2）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延用約 13–15 個月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條件式可行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 回歸徵審 + 報表（P5）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2027-10-12 前下架則不需處理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52578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 E：我方工作最少、SQL 2017 問題可能直接消失、長期只需維運報表平台。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 · 路線 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 2027-10-12 前下架 CRM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28800"/>
          <a:ext cx="1057046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462272"/>
                <a:gridCol w="4462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徵審系統（負責單位）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我方報表平台與封存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Q4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書面承諾與時程；確認承接功能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與法金窗口協調確認方案；盤點功能、報表與使用者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 Q1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承接功能開發；資料轉入規格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報表平台架構；2027-02-28 判斷能否如期下架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 Q2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開發測試；客戶資料轉入演練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報表重建；封存庫離線還原演練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 Q3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驗收；客戶管理切換到徵審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報表平台上線；CRM 轉為唯讀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2027-10-12 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正式運作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CRM 下架；最終備份還原為封存庫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5257800"/>
            <a:ext cx="1057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來不及時：立即申請展延，2027-03-31 前核准則以 S4 短期過渡，目標 2028 上半年前下架；展延未獲核准才做 S1。若改走路線 C：2027-07 SQL 切換，新系統 2028 Q4 上線。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成本粗估 · 路線 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搬遷與客製開發工作都省下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28800"/>
          <a:ext cx="10570464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926080"/>
                <a:gridCol w="40782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粗估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報表平台與封存庫 SQL 授權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NT$103 萬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 SA 可能免重買；兩者共用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主機與儲存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依硬體報價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 6 TB 清理後的實際量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我方報表平台開發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行內 2 人 × 約 12 個月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工具沿用既有 Copilot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徵審系統承接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由該單位評估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移管、銷戶功能與資料轉入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SQL 2017 過渡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2027-10-12 前下架則為 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來不及時申請展延（S4）或 S1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5029200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授權以 Standard 16 cores 牌價、匯率 1 USD = NT$32.5 估算；實際以合約報價為準。路線 C 另需 SQL 搬遷（基礎架構 3–6 人月）與精簡客製開發（行內 2 人約 21 個月，或委外另行估價）。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4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請主管決策與支持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需要的決定與支持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5148072" cy="4023360"/>
          </a:xfrm>
          <a:prstGeom prst="roundRect">
            <a:avLst>
              <a:gd name="adj" fmla="val 2273"/>
            </a:avLst>
          </a:prstGeom>
          <a:solidFill>
            <a:srgbClr val="223044"/>
          </a:solidFill>
          <a:ln/>
        </p:spPr>
      </p:sp>
      <p:sp>
        <p:nvSpPr>
          <p:cNvPr id="5" name="Shape 3"/>
          <p:cNvSpPr/>
          <p:nvPr/>
        </p:nvSpPr>
        <p:spPr>
          <a:xfrm>
            <a:off x="6236208" y="1828800"/>
            <a:ext cx="5148072" cy="4023360"/>
          </a:xfrm>
          <a:prstGeom prst="roundRect">
            <a:avLst>
              <a:gd name="adj" fmla="val 2273"/>
            </a:avLst>
          </a:prstGeom>
          <a:solidFill>
            <a:srgbClr val="2230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4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今天請決定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251460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同意以路線 E 為優先方向，路線 C 為需保留系統時的方案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同意啟動徵審系統承接洽談與現行功能、報表盤點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4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後續決策點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406908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Q4（所有路線）：與法金業務窗口協調，確認是否保留 CRM 系統（P2 或 P5）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 C / D：2027-03-31 簽核核心功能、決定開發方式；SQL 預設 S1，S4 須展延核准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 E：2027-02-28 判斷能否 2027-10-12 前下架；不能則申請展延，2027-03-31 依核准結果決定 S4 或 S1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56248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4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需要協調的支持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514600"/>
            <a:ext cx="4526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法金確認方案內容後，才能配合進行辦理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協調徵審系統負責單位書面承諾時程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協調業務單位確認功能取捨與流程調整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指定法金業務窗口（確認方案；走 P2 時支持範圍精簡）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SQL Server 軟體保證合約（SA）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F2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指定備援人員；正式部署由維運單位執行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4008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 · 法金已提議題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7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三項身分與權限議題，第 2、3 項需法金先規劃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28800"/>
          <a:ext cx="10570464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017520"/>
                <a:gridCol w="5861304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566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對應需求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不要 bundle Microsoft AD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採用現行永豐雲內其他系統的登入驗證方式處理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需求一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容許系統管理員切換為任何使用者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屬高風險功能，涉及權限、稽核及功能操作等細部設計，需由法金管理者詳細規劃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代理人代理時，可直接切換為被代理人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涉及權限與功能操作，須明確定義代理規則及代理範圍，並涵蓋公司內部實際狀況的考量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43434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6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適用範圍：走 P2 時三項由新系統實作；走 P5 時客戶管理由徵審系統負責，第 1 項仍適用於我方報表平台的登入。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4800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2、3 項的規則與範圍需由法金規劃後才能進入開發，已列入待確認事項。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6263640"/>
            <a:ext cx="1057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391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DCSM EOS 處理方案 ·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DCSM EOS Solution Presentation</dc:title>
  <dc:subject>PptxGenJS Presentation</dc:subject>
  <dc:creator>PptxGenJS</dc:creator>
  <cp:lastModifiedBy>PptxGenJS</cp:lastModifiedBy>
  <cp:revision>1</cp:revision>
  <dcterms:created xsi:type="dcterms:W3CDTF">2026-10-12T09:56:01Z</dcterms:created>
  <dcterms:modified xsi:type="dcterms:W3CDTF">2026-10-12T09:56:01Z</dcterms:modified>
</cp:coreProperties>
</file>